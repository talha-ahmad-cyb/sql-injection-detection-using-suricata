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 id="271" r:id="rId12"/>
    <p:sldId id="266" r:id="rId13"/>
    <p:sldId id="267" r:id="rId14"/>
    <p:sldId id="268" r:id="rId15"/>
    <p:sldId id="269" r:id="rId16"/>
    <p:sldId id="270"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4" d="100"/>
          <a:sy n="54" d="100"/>
        </p:scale>
        <p:origin x="682"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7/20/2026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7/20/2026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7/20/2026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7/20/2026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7/20/2026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7/20/2026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7/20/2026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7/20/2026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7/20/2026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E47183-924A-4F00-894A-7D7C0F78101A}"/>
              </a:ext>
            </a:extLst>
          </p:cNvPr>
          <p:cNvSpPr>
            <a:spLocks noGrp="1"/>
          </p:cNvSpPr>
          <p:nvPr>
            <p:ph type="title"/>
          </p:nvPr>
        </p:nvSpPr>
        <p:spPr>
          <a:xfrm>
            <a:off x="1371600" y="645160"/>
            <a:ext cx="9601200" cy="1485900"/>
          </a:xfrm>
        </p:spPr>
        <p:txBody>
          <a:bodyPr>
            <a:normAutofit/>
          </a:bodyPr>
          <a:lstStyle/>
          <a:p>
            <a:r>
              <a:rPr lang="en-US" sz="4000" dirty="0"/>
              <a:t>SQL Injection Detection Using Suricata IDS</a:t>
            </a:r>
          </a:p>
        </p:txBody>
      </p:sp>
      <p:sp>
        <p:nvSpPr>
          <p:cNvPr id="2" name="Content Placeholder 1">
            <a:extLst>
              <a:ext uri="{FF2B5EF4-FFF2-40B4-BE49-F238E27FC236}">
                <a16:creationId xmlns:a16="http://schemas.microsoft.com/office/drawing/2014/main" id="{E2F3AD46-7E3F-4316-B155-F9D04292CDD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95046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ECC4-29DA-446E-8BFD-AED813492830}"/>
              </a:ext>
            </a:extLst>
          </p:cNvPr>
          <p:cNvSpPr>
            <a:spLocks noGrp="1"/>
          </p:cNvSpPr>
          <p:nvPr>
            <p:ph type="title"/>
          </p:nvPr>
        </p:nvSpPr>
        <p:spPr/>
        <p:txBody>
          <a:bodyPr/>
          <a:lstStyle/>
          <a:p>
            <a:r>
              <a:rPr lang="en-US" dirty="0"/>
              <a:t>Introduction</a:t>
            </a:r>
          </a:p>
        </p:txBody>
      </p:sp>
      <p:sp>
        <p:nvSpPr>
          <p:cNvPr id="4" name="Rectangle 1">
            <a:extLst>
              <a:ext uri="{FF2B5EF4-FFF2-40B4-BE49-F238E27FC236}">
                <a16:creationId xmlns:a16="http://schemas.microsoft.com/office/drawing/2014/main" id="{80582FD7-DD08-4734-89F1-9975B018DC67}"/>
              </a:ext>
            </a:extLst>
          </p:cNvPr>
          <p:cNvSpPr>
            <a:spLocks noGrp="1" noChangeArrowheads="1"/>
          </p:cNvSpPr>
          <p:nvPr>
            <p:ph idx="1"/>
          </p:nvPr>
        </p:nvSpPr>
        <p:spPr bwMode="auto">
          <a:xfrm>
            <a:off x="1371600" y="2610530"/>
            <a:ext cx="7610610" cy="2932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Web applications are common targets of cyberattacks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SQL Injection (SQLi)</a:t>
            </a:r>
            <a:r>
              <a:rPr kumimoji="0" lang="en-US" altLang="en-US" sz="2400" b="0" i="0" u="none" strike="noStrike" cap="none" normalizeH="0" baseline="0" dirty="0">
                <a:ln>
                  <a:noFill/>
                </a:ln>
                <a:solidFill>
                  <a:schemeClr val="tx1"/>
                </a:solidFill>
                <a:effectLst/>
                <a:latin typeface="Arial" panose="020B0604020202020204" pitchFamily="34" charset="0"/>
              </a:rPr>
              <a:t> is a critical web vulnerability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IDS tools help monitor and detect malicious traffic</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Suricata</a:t>
            </a:r>
            <a:r>
              <a:rPr kumimoji="0" lang="en-US" altLang="en-US" sz="2400" b="0" i="0" u="none" strike="noStrike" cap="none" normalizeH="0" baseline="0" dirty="0">
                <a:ln>
                  <a:noFill/>
                </a:ln>
                <a:solidFill>
                  <a:schemeClr val="tx1"/>
                </a:solidFill>
                <a:effectLst/>
                <a:latin typeface="Arial" panose="020B0604020202020204" pitchFamily="34" charset="0"/>
              </a:rPr>
              <a:t> is an open-source, network-based IDS</a:t>
            </a:r>
          </a:p>
        </p:txBody>
      </p:sp>
    </p:spTree>
    <p:extLst>
      <p:ext uri="{BB962C8B-B14F-4D97-AF65-F5344CB8AC3E}">
        <p14:creationId xmlns:p14="http://schemas.microsoft.com/office/powerpoint/2010/main" val="1293846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EB267-453A-4BEA-B0E2-E50F57318961}"/>
              </a:ext>
            </a:extLst>
          </p:cNvPr>
          <p:cNvSpPr>
            <a:spLocks noGrp="1"/>
          </p:cNvSpPr>
          <p:nvPr>
            <p:ph type="title"/>
          </p:nvPr>
        </p:nvSpPr>
        <p:spPr/>
        <p:txBody>
          <a:bodyPr/>
          <a:lstStyle/>
          <a:p>
            <a:r>
              <a:rPr lang="en-US" dirty="0"/>
              <a:t>Problem Statement / Objective</a:t>
            </a:r>
          </a:p>
        </p:txBody>
      </p:sp>
      <p:sp>
        <p:nvSpPr>
          <p:cNvPr id="3" name="Content Placeholder 2">
            <a:extLst>
              <a:ext uri="{FF2B5EF4-FFF2-40B4-BE49-F238E27FC236}">
                <a16:creationId xmlns:a16="http://schemas.microsoft.com/office/drawing/2014/main" id="{782A6CA7-1938-46D3-8CEF-CA02AD884F5D}"/>
              </a:ext>
            </a:extLst>
          </p:cNvPr>
          <p:cNvSpPr>
            <a:spLocks noGrp="1"/>
          </p:cNvSpPr>
          <p:nvPr>
            <p:ph idx="1"/>
          </p:nvPr>
        </p:nvSpPr>
        <p:spPr/>
        <p:txBody>
          <a:bodyPr/>
          <a:lstStyle/>
          <a:p>
            <a:pPr>
              <a:buFont typeface="Arial" panose="020B0604020202020204" pitchFamily="34" charset="0"/>
              <a:buChar char="•"/>
            </a:pPr>
            <a:r>
              <a:rPr lang="en-US" sz="2400" dirty="0"/>
              <a:t>Web applications often lack proper input validation</a:t>
            </a:r>
          </a:p>
          <a:p>
            <a:pPr>
              <a:buFont typeface="Arial" panose="020B0604020202020204" pitchFamily="34" charset="0"/>
              <a:buChar char="•"/>
            </a:pPr>
            <a:r>
              <a:rPr lang="en-US" sz="2400" dirty="0"/>
              <a:t>SQL Injection can lead to data leakage and system compromise</a:t>
            </a:r>
          </a:p>
          <a:p>
            <a:pPr>
              <a:buFont typeface="Arial" panose="020B0604020202020204" pitchFamily="34" charset="0"/>
              <a:buChar char="•"/>
            </a:pPr>
            <a:r>
              <a:rPr lang="en-US" sz="2400" dirty="0"/>
              <a:t>Need to detect SQL Injection at network level</a:t>
            </a:r>
          </a:p>
          <a:p>
            <a:r>
              <a:rPr lang="en-US" sz="2400" b="1" dirty="0"/>
              <a:t>Objective:</a:t>
            </a:r>
            <a:endParaRPr lang="en-US" sz="2400" dirty="0"/>
          </a:p>
          <a:p>
            <a:pPr>
              <a:buFont typeface="Arial" panose="020B0604020202020204" pitchFamily="34" charset="0"/>
              <a:buChar char="•"/>
            </a:pPr>
            <a:r>
              <a:rPr lang="en-US" sz="2400" dirty="0"/>
              <a:t>Detect SQL Injection attacks using Suricata IDS</a:t>
            </a:r>
          </a:p>
          <a:p>
            <a:pPr>
              <a:buFont typeface="Arial" panose="020B0604020202020204" pitchFamily="34" charset="0"/>
              <a:buChar char="•"/>
            </a:pPr>
            <a:r>
              <a:rPr lang="en-US" sz="2400" dirty="0"/>
              <a:t>Monitor attack traffic generated from Kali Linux</a:t>
            </a:r>
          </a:p>
          <a:p>
            <a:pPr>
              <a:buFont typeface="Arial" panose="020B0604020202020204" pitchFamily="34" charset="0"/>
              <a:buChar char="•"/>
            </a:pPr>
            <a:r>
              <a:rPr lang="en-US" sz="2400" dirty="0"/>
              <a:t>Analyze alerts generated by Suricata</a:t>
            </a:r>
          </a:p>
          <a:p>
            <a:pPr marL="0" indent="0">
              <a:buNone/>
            </a:pPr>
            <a:endParaRPr lang="en-US" dirty="0"/>
          </a:p>
        </p:txBody>
      </p:sp>
    </p:spTree>
    <p:extLst>
      <p:ext uri="{BB962C8B-B14F-4D97-AF65-F5344CB8AC3E}">
        <p14:creationId xmlns:p14="http://schemas.microsoft.com/office/powerpoint/2010/main" val="413512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AE9BE-0AC7-4384-B3B0-CCB434B3B9DD}"/>
              </a:ext>
            </a:extLst>
          </p:cNvPr>
          <p:cNvSpPr>
            <a:spLocks noGrp="1"/>
          </p:cNvSpPr>
          <p:nvPr>
            <p:ph type="title"/>
          </p:nvPr>
        </p:nvSpPr>
        <p:spPr/>
        <p:txBody>
          <a:bodyPr/>
          <a:lstStyle/>
          <a:p>
            <a:r>
              <a:rPr lang="en-US" dirty="0"/>
              <a:t>Tools &amp; Environment Setup</a:t>
            </a:r>
          </a:p>
        </p:txBody>
      </p:sp>
      <p:sp>
        <p:nvSpPr>
          <p:cNvPr id="4" name="Rectangle 1">
            <a:extLst>
              <a:ext uri="{FF2B5EF4-FFF2-40B4-BE49-F238E27FC236}">
                <a16:creationId xmlns:a16="http://schemas.microsoft.com/office/drawing/2014/main" id="{707554A3-5688-467A-90A0-44CC5848D955}"/>
              </a:ext>
            </a:extLst>
          </p:cNvPr>
          <p:cNvSpPr>
            <a:spLocks noGrp="1" noChangeArrowheads="1"/>
          </p:cNvSpPr>
          <p:nvPr>
            <p:ph idx="1"/>
          </p:nvPr>
        </p:nvSpPr>
        <p:spPr bwMode="auto">
          <a:xfrm>
            <a:off x="1605280" y="1962829"/>
            <a:ext cx="7296036" cy="2932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VMware Workstation</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Virtualization platform</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Kali Linux</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Attacker machine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Metasploitable</a:t>
            </a:r>
            <a:r>
              <a:rPr kumimoji="0" lang="en-US" alt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2 (DVWA)</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Vulnerable web server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Ubuntu Linux</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Suricata IDS</a:t>
            </a:r>
          </a:p>
        </p:txBody>
      </p:sp>
    </p:spTree>
    <p:extLst>
      <p:ext uri="{BB962C8B-B14F-4D97-AF65-F5344CB8AC3E}">
        <p14:creationId xmlns:p14="http://schemas.microsoft.com/office/powerpoint/2010/main" val="2474957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329F7-185C-4526-AF41-7C8206316292}"/>
              </a:ext>
            </a:extLst>
          </p:cNvPr>
          <p:cNvSpPr>
            <a:spLocks noGrp="1"/>
          </p:cNvSpPr>
          <p:nvPr>
            <p:ph type="title"/>
          </p:nvPr>
        </p:nvSpPr>
        <p:spPr/>
        <p:txBody>
          <a:bodyPr>
            <a:normAutofit/>
          </a:bodyPr>
          <a:lstStyle/>
          <a:p>
            <a:r>
              <a:rPr lang="en-US" sz="3600" b="1" dirty="0">
                <a:effectLst/>
                <a:latin typeface="Times New Roman" panose="02020603050405020304" pitchFamily="18" charset="0"/>
                <a:ea typeface="Times New Roman" panose="02020603050405020304" pitchFamily="18" charset="0"/>
              </a:rPr>
              <a:t>Network Configuration</a:t>
            </a:r>
            <a:endParaRPr lang="en-US" sz="3600" dirty="0"/>
          </a:p>
        </p:txBody>
      </p:sp>
      <p:sp>
        <p:nvSpPr>
          <p:cNvPr id="3" name="Content Placeholder 2">
            <a:extLst>
              <a:ext uri="{FF2B5EF4-FFF2-40B4-BE49-F238E27FC236}">
                <a16:creationId xmlns:a16="http://schemas.microsoft.com/office/drawing/2014/main" id="{5E697DC6-03F5-4395-9B01-9107D6FC6228}"/>
              </a:ext>
            </a:extLst>
          </p:cNvPr>
          <p:cNvSpPr>
            <a:spLocks noGrp="1"/>
          </p:cNvSpPr>
          <p:nvPr>
            <p:ph idx="1"/>
          </p:nvPr>
        </p:nvSpPr>
        <p:spPr>
          <a:xfrm>
            <a:off x="1371600" y="1798320"/>
            <a:ext cx="9601200" cy="3581400"/>
          </a:xfrm>
        </p:spPr>
        <p:txBody>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All VMs on same NAT network (VMnet8)</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Required for packet visibility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IP Addresses: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Kali Linux: 192.168.160….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Ubuntu (Suricata): 192.168.160…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Metasploitable</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2: 192.168.160…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173411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A815E-2396-47A8-A104-48FB0A90594F}"/>
              </a:ext>
            </a:extLst>
          </p:cNvPr>
          <p:cNvSpPr>
            <a:spLocks noGrp="1"/>
          </p:cNvSpPr>
          <p:nvPr>
            <p:ph type="title"/>
          </p:nvPr>
        </p:nvSpPr>
        <p:spPr/>
        <p:txBody>
          <a:bodyPr/>
          <a:lstStyle/>
          <a:p>
            <a:r>
              <a:rPr lang="en-US" dirty="0"/>
              <a:t>Suricata Configuration File</a:t>
            </a:r>
          </a:p>
        </p:txBody>
      </p:sp>
      <p:sp>
        <p:nvSpPr>
          <p:cNvPr id="3" name="Content Placeholder 2">
            <a:extLst>
              <a:ext uri="{FF2B5EF4-FFF2-40B4-BE49-F238E27FC236}">
                <a16:creationId xmlns:a16="http://schemas.microsoft.com/office/drawing/2014/main" id="{DD83D57F-36BD-4830-BA47-D9B52C01A028}"/>
              </a:ext>
            </a:extLst>
          </p:cNvPr>
          <p:cNvSpPr>
            <a:spLocks noGrp="1"/>
          </p:cNvSpPr>
          <p:nvPr>
            <p:ph idx="1"/>
          </p:nvPr>
        </p:nvSpPr>
        <p:spPr>
          <a:xfrm>
            <a:off x="1452880" y="1889760"/>
            <a:ext cx="9601200" cy="3581400"/>
          </a:xfrm>
        </p:spPr>
        <p:txBody>
          <a:bodyPr/>
          <a:lstStyle/>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effectLst/>
                <a:latin typeface="Arial" panose="020B0604020202020204" pitchFamily="34" charset="0"/>
                <a:ea typeface="Times New Roman" panose="02020603050405020304" pitchFamily="18" charset="0"/>
                <a:cs typeface="Arial" panose="020B0604020202020204" pitchFamily="34" charset="0"/>
              </a:rPr>
              <a:t>Sudo</a:t>
            </a:r>
            <a:r>
              <a:rPr lang="en-US" sz="2400" dirty="0">
                <a:effectLst/>
                <a:latin typeface="Arial" panose="020B0604020202020204" pitchFamily="34" charset="0"/>
                <a:ea typeface="Times New Roman" panose="02020603050405020304" pitchFamily="18" charset="0"/>
                <a:cs typeface="Arial" panose="020B0604020202020204" pitchFamily="34" charset="0"/>
              </a:rPr>
              <a:t> nano /</a:t>
            </a:r>
            <a:r>
              <a:rPr lang="en-US" sz="2400" dirty="0" err="1">
                <a:effectLst/>
                <a:latin typeface="Arial" panose="020B0604020202020204" pitchFamily="34" charset="0"/>
                <a:ea typeface="Times New Roman" panose="02020603050405020304" pitchFamily="18" charset="0"/>
                <a:cs typeface="Arial" panose="020B0604020202020204" pitchFamily="34" charset="0"/>
              </a:rPr>
              <a:t>etc</a:t>
            </a:r>
            <a:r>
              <a:rPr lang="en-US" sz="2400" dirty="0">
                <a:effectLst/>
                <a:latin typeface="Arial" panose="020B0604020202020204" pitchFamily="34" charset="0"/>
                <a:ea typeface="Times New Roman" panose="02020603050405020304" pitchFamily="18" charset="0"/>
                <a:cs typeface="Arial" panose="020B0604020202020204" pitchFamily="34" charset="0"/>
              </a:rPr>
              <a:t>/</a:t>
            </a:r>
            <a:r>
              <a:rPr lang="en-US" sz="2400" dirty="0" err="1">
                <a:effectLst/>
                <a:latin typeface="Arial" panose="020B0604020202020204" pitchFamily="34" charset="0"/>
                <a:ea typeface="Times New Roman" panose="02020603050405020304" pitchFamily="18" charset="0"/>
                <a:cs typeface="Arial" panose="020B0604020202020204" pitchFamily="34" charset="0"/>
              </a:rPr>
              <a:t>suricata</a:t>
            </a:r>
            <a:r>
              <a:rPr lang="en-US" sz="2400" dirty="0">
                <a:effectLst/>
                <a:latin typeface="Arial" panose="020B0604020202020204" pitchFamily="34" charset="0"/>
                <a:ea typeface="Times New Roman" panose="02020603050405020304" pitchFamily="18" charset="0"/>
                <a:cs typeface="Arial" panose="020B0604020202020204" pitchFamily="34" charset="0"/>
              </a:rPr>
              <a:t>/</a:t>
            </a:r>
            <a:r>
              <a:rPr lang="en-US" sz="2400" dirty="0" err="1">
                <a:effectLst/>
                <a:latin typeface="Arial" panose="020B0604020202020204" pitchFamily="34" charset="0"/>
                <a:ea typeface="Times New Roman" panose="02020603050405020304" pitchFamily="18" charset="0"/>
                <a:cs typeface="Arial" panose="020B0604020202020204" pitchFamily="34" charset="0"/>
              </a:rPr>
              <a:t>suricata.yaml</a:t>
            </a:r>
            <a:endParaRPr lang="en-US" sz="24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2400" dirty="0" err="1">
                <a:effectLst/>
                <a:latin typeface="Times New Roman" panose="02020603050405020304" pitchFamily="18" charset="0"/>
                <a:ea typeface="Times New Roman" panose="02020603050405020304" pitchFamily="18" charset="0"/>
                <a:cs typeface="Times New Roman" panose="02020603050405020304" pitchFamily="18" charset="0"/>
              </a:rPr>
              <a:t>suricata.yaml</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file is the main configuration file. It defines network variables, rule paths, logging formats, and detection behavior. Any misconfiguration here can prevent Suricata from working correctly.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070763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08A5-5CA7-48BB-AB82-07282FB0B4C5}"/>
              </a:ext>
            </a:extLst>
          </p:cNvPr>
          <p:cNvSpPr>
            <a:spLocks noGrp="1"/>
          </p:cNvSpPr>
          <p:nvPr>
            <p:ph type="title"/>
          </p:nvPr>
        </p:nvSpPr>
        <p:spPr/>
        <p:txBody>
          <a:bodyPr/>
          <a:lstStyle/>
          <a:p>
            <a:r>
              <a:rPr lang="en-US" sz="4000" b="1" dirty="0">
                <a:effectLst/>
                <a:latin typeface="Times New Roman" panose="02020603050405020304" pitchFamily="18" charset="0"/>
                <a:ea typeface="Times New Roman" panose="02020603050405020304" pitchFamily="18" charset="0"/>
                <a:cs typeface="Times New Roman" panose="02020603050405020304" pitchFamily="18" charset="0"/>
              </a:rPr>
              <a:t>HOME_NET Configuration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A096A62-7242-4BF8-B6B6-33BACEC805AA}"/>
              </a:ext>
            </a:extLst>
          </p:cNvPr>
          <p:cNvSpPr>
            <a:spLocks noGrp="1"/>
          </p:cNvSpPr>
          <p:nvPr>
            <p:ph idx="1"/>
          </p:nvPr>
        </p:nvSpPr>
        <p:spPr>
          <a:xfrm>
            <a:off x="1483360" y="1808480"/>
            <a:ext cx="9601200" cy="3581400"/>
          </a:xfrm>
        </p:spPr>
        <p:txBody>
          <a:bodyPr>
            <a:normAutofit/>
          </a:bodyPr>
          <a:lstStyle/>
          <a:p>
            <a:pPr marL="0" marR="0" indent="0">
              <a:lnSpc>
                <a:spcPct val="15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2400" dirty="0">
                <a:effectLst/>
                <a:latin typeface="Arial" panose="020B0604020202020204" pitchFamily="34" charset="0"/>
                <a:ea typeface="Times New Roman" panose="02020603050405020304" pitchFamily="18" charset="0"/>
                <a:cs typeface="Arial" panose="020B0604020202020204" pitchFamily="34" charset="0"/>
              </a:rPr>
              <a:t>HOME_NET: "[192.168.160.130]"</a:t>
            </a:r>
            <a:endParaRPr lang="en-US" sz="24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50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50000"/>
              </a:lnSpc>
              <a:buNone/>
            </a:pPr>
            <a:r>
              <a:rPr lang="en-US" sz="2400" dirty="0">
                <a:effectLst/>
                <a:latin typeface="Times New Roman" panose="02020603050405020304" pitchFamily="18" charset="0"/>
                <a:ea typeface="Times New Roman" panose="02020603050405020304" pitchFamily="18" charset="0"/>
              </a:rPr>
              <a:t> HOME_NET defines the network assets that Suricata is protecting. By setting it to the </a:t>
            </a:r>
            <a:r>
              <a:rPr lang="en-US" sz="2400" dirty="0" err="1">
                <a:effectLst/>
                <a:latin typeface="Times New Roman" panose="02020603050405020304" pitchFamily="18" charset="0"/>
                <a:ea typeface="Times New Roman" panose="02020603050405020304" pitchFamily="18" charset="0"/>
              </a:rPr>
              <a:t>Metasploitable</a:t>
            </a:r>
            <a:r>
              <a:rPr lang="en-US" sz="2400" dirty="0">
                <a:effectLst/>
                <a:latin typeface="Times New Roman" panose="02020603050405020304" pitchFamily="18" charset="0"/>
                <a:ea typeface="Times New Roman" panose="02020603050405020304" pitchFamily="18" charset="0"/>
              </a:rPr>
              <a:t> 2 IP, Suricata focuses on traffic destined for or coming from the vulnerable server, improving detection accuracy and reducing false positives</a:t>
            </a:r>
            <a:endParaRPr lang="en-US" sz="2400" dirty="0"/>
          </a:p>
        </p:txBody>
      </p:sp>
    </p:spTree>
    <p:extLst>
      <p:ext uri="{BB962C8B-B14F-4D97-AF65-F5344CB8AC3E}">
        <p14:creationId xmlns:p14="http://schemas.microsoft.com/office/powerpoint/2010/main" val="2775519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66B87-FDDA-4095-B4A8-25BFCA92E328}"/>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Local Rules Concept</a:t>
            </a:r>
            <a:endParaRPr lang="en-US" sz="4000" dirty="0"/>
          </a:p>
        </p:txBody>
      </p:sp>
      <p:sp>
        <p:nvSpPr>
          <p:cNvPr id="3" name="Content Placeholder 2">
            <a:extLst>
              <a:ext uri="{FF2B5EF4-FFF2-40B4-BE49-F238E27FC236}">
                <a16:creationId xmlns:a16="http://schemas.microsoft.com/office/drawing/2014/main" id="{50D20C55-148E-4710-8AF7-DD79880D7880}"/>
              </a:ext>
            </a:extLst>
          </p:cNvPr>
          <p:cNvSpPr>
            <a:spLocks noGrp="1"/>
          </p:cNvSpPr>
          <p:nvPr>
            <p:ph idx="1"/>
          </p:nvPr>
        </p:nvSpPr>
        <p:spPr/>
        <p:txBody>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Custom detection rules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Used for specific attack patterns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Stored in local rule files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Suricata supports custom rules that allow security analysts to detect specific attacks. These rules search for suspicious patterns such as SQL keywords, operators, and symbols commonly used in SQL Injection attacks.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0187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C6026-B124-4C9E-ABE6-33DA2AD0EAC6}"/>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Testing Configuration</a:t>
            </a:r>
            <a:endParaRPr lang="en-US" sz="4000" dirty="0"/>
          </a:p>
        </p:txBody>
      </p:sp>
      <p:sp>
        <p:nvSpPr>
          <p:cNvPr id="3" name="Content Placeholder 2">
            <a:extLst>
              <a:ext uri="{FF2B5EF4-FFF2-40B4-BE49-F238E27FC236}">
                <a16:creationId xmlns:a16="http://schemas.microsoft.com/office/drawing/2014/main" id="{DACD1E2A-2210-46C6-9D43-EE96C4C0CEF0}"/>
              </a:ext>
            </a:extLst>
          </p:cNvPr>
          <p:cNvSpPr>
            <a:spLocks noGrp="1"/>
          </p:cNvSpPr>
          <p:nvPr>
            <p:ph idx="1"/>
          </p:nvPr>
        </p:nvSpPr>
        <p:spPr/>
        <p:txBody>
          <a:bodyPr/>
          <a:lstStyle/>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effectLst/>
                <a:latin typeface="Arial" panose="020B0604020202020204" pitchFamily="34" charset="0"/>
                <a:ea typeface="Times New Roman" panose="02020603050405020304" pitchFamily="18" charset="0"/>
                <a:cs typeface="Arial" panose="020B0604020202020204" pitchFamily="34" charset="0"/>
              </a:rPr>
              <a:t>sudo</a:t>
            </a:r>
            <a:r>
              <a:rPr lang="en-US" sz="2400"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err="1">
                <a:effectLst/>
                <a:latin typeface="Arial" panose="020B0604020202020204" pitchFamily="34" charset="0"/>
                <a:ea typeface="Times New Roman" panose="02020603050405020304" pitchFamily="18" charset="0"/>
                <a:cs typeface="Arial" panose="020B0604020202020204" pitchFamily="34" charset="0"/>
              </a:rPr>
              <a:t>suricata</a:t>
            </a:r>
            <a:r>
              <a:rPr lang="en-US" sz="2400" dirty="0">
                <a:effectLst/>
                <a:latin typeface="Arial" panose="020B0604020202020204" pitchFamily="34" charset="0"/>
                <a:ea typeface="Times New Roman" panose="02020603050405020304" pitchFamily="18" charset="0"/>
                <a:cs typeface="Arial" panose="020B0604020202020204" pitchFamily="34" charset="0"/>
              </a:rPr>
              <a:t> -T -c /</a:t>
            </a:r>
            <a:r>
              <a:rPr lang="en-US" sz="2400" dirty="0" err="1">
                <a:effectLst/>
                <a:latin typeface="Arial" panose="020B0604020202020204" pitchFamily="34" charset="0"/>
                <a:ea typeface="Times New Roman" panose="02020603050405020304" pitchFamily="18" charset="0"/>
                <a:cs typeface="Arial" panose="020B0604020202020204" pitchFamily="34" charset="0"/>
              </a:rPr>
              <a:t>etc</a:t>
            </a:r>
            <a:r>
              <a:rPr lang="en-US" sz="2400" dirty="0">
                <a:effectLst/>
                <a:latin typeface="Arial" panose="020B0604020202020204" pitchFamily="34" charset="0"/>
                <a:ea typeface="Times New Roman" panose="02020603050405020304" pitchFamily="18" charset="0"/>
                <a:cs typeface="Arial" panose="020B0604020202020204" pitchFamily="34" charset="0"/>
              </a:rPr>
              <a:t>/</a:t>
            </a:r>
            <a:r>
              <a:rPr lang="en-US" sz="2400" dirty="0" err="1">
                <a:effectLst/>
                <a:latin typeface="Arial" panose="020B0604020202020204" pitchFamily="34" charset="0"/>
                <a:ea typeface="Times New Roman" panose="02020603050405020304" pitchFamily="18" charset="0"/>
                <a:cs typeface="Arial" panose="020B0604020202020204" pitchFamily="34" charset="0"/>
              </a:rPr>
              <a:t>suricata</a:t>
            </a:r>
            <a:r>
              <a:rPr lang="en-US" sz="2400" dirty="0">
                <a:effectLst/>
                <a:latin typeface="Arial" panose="020B0604020202020204" pitchFamily="34" charset="0"/>
                <a:ea typeface="Times New Roman" panose="02020603050405020304" pitchFamily="18" charset="0"/>
                <a:cs typeface="Arial" panose="020B0604020202020204" pitchFamily="34" charset="0"/>
              </a:rPr>
              <a:t>/</a:t>
            </a:r>
            <a:r>
              <a:rPr lang="en-US" sz="2400" dirty="0" err="1">
                <a:effectLst/>
                <a:latin typeface="Arial" panose="020B0604020202020204" pitchFamily="34" charset="0"/>
                <a:ea typeface="Times New Roman" panose="02020603050405020304" pitchFamily="18" charset="0"/>
                <a:cs typeface="Arial" panose="020B0604020202020204" pitchFamily="34" charset="0"/>
              </a:rPr>
              <a:t>suricata.yaml</a:t>
            </a:r>
            <a:endParaRPr lang="en-US" sz="24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This command validates the Suricata configuration and rules before deployment. It ensures that all files are correctly loaded and prevents runtime errors during traffic analysis.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70148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3980-AA5A-4CD0-ACAD-0072BB306F6C}"/>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SQL Injection Detection Rules</a:t>
            </a:r>
            <a:endParaRPr lang="en-US" sz="4000" dirty="0"/>
          </a:p>
        </p:txBody>
      </p:sp>
      <p:sp>
        <p:nvSpPr>
          <p:cNvPr id="3" name="Content Placeholder 2">
            <a:extLst>
              <a:ext uri="{FF2B5EF4-FFF2-40B4-BE49-F238E27FC236}">
                <a16:creationId xmlns:a16="http://schemas.microsoft.com/office/drawing/2014/main" id="{A75BB7F4-1B6D-4DBD-BB1A-B63E59D41AE3}"/>
              </a:ext>
            </a:extLst>
          </p:cNvPr>
          <p:cNvSpPr>
            <a:spLocks noGrp="1"/>
          </p:cNvSpPr>
          <p:nvPr>
            <p:ph idx="1"/>
          </p:nvPr>
        </p:nvSpPr>
        <p:spPr>
          <a:xfrm>
            <a:off x="1371600" y="1869440"/>
            <a:ext cx="9601200" cy="3581400"/>
          </a:xfrm>
        </p:spPr>
        <p:txBody>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Detect single quotes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Detect OR conditions (OR 1=1)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Detect UNION SELECT statements</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SQL Injection attacks often include recognizable patterns. Suricata rules look for these patterns in HTTP requests. When a match is found, an alert is generated, indicating a possible attack.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739266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B57D6-05C8-4A98-9F7E-9266D97D4BF7}"/>
              </a:ext>
            </a:extLst>
          </p:cNvPr>
          <p:cNvSpPr>
            <a:spLocks noGrp="1"/>
          </p:cNvSpPr>
          <p:nvPr>
            <p:ph type="title"/>
          </p:nvPr>
        </p:nvSpPr>
        <p:spPr/>
        <p:txBody>
          <a:bodyPr>
            <a:normAutofit/>
          </a:bodyPr>
          <a:lstStyle/>
          <a:p>
            <a:r>
              <a:rPr lang="en-US" b="1" dirty="0">
                <a:effectLst/>
                <a:latin typeface="Times New Roman" panose="02020603050405020304" pitchFamily="18" charset="0"/>
                <a:ea typeface="Times New Roman" panose="02020603050405020304" pitchFamily="18" charset="0"/>
              </a:rPr>
              <a:t>Accessing DVWA</a:t>
            </a:r>
            <a:endParaRPr lang="en-US" dirty="0"/>
          </a:p>
        </p:txBody>
      </p:sp>
      <p:sp>
        <p:nvSpPr>
          <p:cNvPr id="3" name="Content Placeholder 2">
            <a:extLst>
              <a:ext uri="{FF2B5EF4-FFF2-40B4-BE49-F238E27FC236}">
                <a16:creationId xmlns:a16="http://schemas.microsoft.com/office/drawing/2014/main" id="{1327C6FD-51D2-4611-8A01-42E8C6225B85}"/>
              </a:ext>
            </a:extLst>
          </p:cNvPr>
          <p:cNvSpPr>
            <a:spLocks noGrp="1"/>
          </p:cNvSpPr>
          <p:nvPr>
            <p:ph idx="1"/>
          </p:nvPr>
        </p:nvSpPr>
        <p:spPr>
          <a:xfrm>
            <a:off x="1503680" y="1513840"/>
            <a:ext cx="9601200" cy="3581400"/>
          </a:xfrm>
        </p:spPr>
        <p:txBody>
          <a:bodyPr/>
          <a:lstStyle/>
          <a:p>
            <a:pPr marL="0" marR="0" indent="0">
              <a:lnSpc>
                <a:spcPct val="107000"/>
              </a:lnSpc>
              <a:spcBef>
                <a:spcPts val="0"/>
              </a:spcBef>
              <a:spcAft>
                <a:spcPts val="800"/>
              </a:spcAft>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Arial" panose="020B0604020202020204" pitchFamily="34" charset="0"/>
                <a:ea typeface="Times New Roman" panose="02020603050405020304" pitchFamily="18" charset="0"/>
                <a:cs typeface="Arial" panose="020B0604020202020204" pitchFamily="34" charset="0"/>
              </a:rPr>
              <a:t>Open browser in Kali Linux</a:t>
            </a: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Arial" panose="020B0604020202020204" pitchFamily="34" charset="0"/>
                <a:ea typeface="Times New Roman" panose="02020603050405020304" pitchFamily="18" charset="0"/>
                <a:cs typeface="Arial" panose="020B0604020202020204" pitchFamily="34" charset="0"/>
              </a:rPr>
              <a:t>Navigate to </a:t>
            </a:r>
            <a:r>
              <a:rPr lang="en-US" sz="1800" dirty="0" err="1">
                <a:effectLst/>
                <a:latin typeface="Arial" panose="020B0604020202020204" pitchFamily="34" charset="0"/>
                <a:ea typeface="Times New Roman" panose="02020603050405020304" pitchFamily="18" charset="0"/>
                <a:cs typeface="Arial" panose="020B0604020202020204" pitchFamily="34" charset="0"/>
              </a:rPr>
              <a:t>Metasploitable</a:t>
            </a:r>
            <a:r>
              <a:rPr lang="en-US" sz="1800" dirty="0">
                <a:effectLst/>
                <a:latin typeface="Arial" panose="020B0604020202020204" pitchFamily="34" charset="0"/>
                <a:ea typeface="Times New Roman" panose="02020603050405020304" pitchFamily="18" charset="0"/>
                <a:cs typeface="Arial" panose="020B0604020202020204" pitchFamily="34" charset="0"/>
              </a:rPr>
              <a:t> IP</a:t>
            </a: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Arial" panose="020B0604020202020204" pitchFamily="34" charset="0"/>
                <a:ea typeface="Times New Roman" panose="02020603050405020304" pitchFamily="18" charset="0"/>
                <a:cs typeface="Arial" panose="020B0604020202020204" pitchFamily="34" charset="0"/>
              </a:rPr>
              <a:t>Open DVWA</a:t>
            </a:r>
            <a:endParaRPr lang="en-US" sz="1800" dirty="0">
              <a:latin typeface="Arial" panose="020B0604020202020204" pitchFamily="34"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1800" dirty="0">
                <a:effectLst/>
                <a:latin typeface="Arial" panose="020B0604020202020204" pitchFamily="34" charset="0"/>
                <a:ea typeface="Times New Roman" panose="02020603050405020304" pitchFamily="18" charset="0"/>
                <a:cs typeface="Arial" panose="020B0604020202020204" pitchFamily="34" charset="0"/>
              </a:rPr>
              <a:t>DVWA is intentionally vulnerable and provides a safe environment to test SQL Injection attacks. Setting the security level to low disables input validation, allowing attacks to succeed.</a:t>
            </a: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230897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6B51-CF8A-404F-A478-6AF733CA1F19}"/>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SQL Injection – Error Based Test</a:t>
            </a:r>
            <a:endParaRPr lang="en-US" sz="4000" dirty="0"/>
          </a:p>
        </p:txBody>
      </p:sp>
      <p:sp>
        <p:nvSpPr>
          <p:cNvPr id="3" name="Content Placeholder 2">
            <a:extLst>
              <a:ext uri="{FF2B5EF4-FFF2-40B4-BE49-F238E27FC236}">
                <a16:creationId xmlns:a16="http://schemas.microsoft.com/office/drawing/2014/main" id="{0B7F4ADB-4689-4E80-A0AC-615FABBA5249}"/>
              </a:ext>
            </a:extLst>
          </p:cNvPr>
          <p:cNvSpPr>
            <a:spLocks noGrp="1"/>
          </p:cNvSpPr>
          <p:nvPr>
            <p:ph idx="1"/>
          </p:nvPr>
        </p:nvSpPr>
        <p:spPr>
          <a:xfrm>
            <a:off x="1503680" y="1869440"/>
            <a:ext cx="9601200" cy="3581400"/>
          </a:xfrm>
        </p:spPr>
        <p:txBody>
          <a:bodyPr/>
          <a:lstStyle/>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1’</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This payload breaks the SQL query syntax and causes a database error. It confirms that the input is not properly sanitized and that the application is vulnerable to SQL Injection.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978453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6F520-B616-453C-9178-3C021385356E}"/>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Authentication Bypass Attack</a:t>
            </a:r>
            <a:endParaRPr lang="en-US" sz="4000" dirty="0"/>
          </a:p>
        </p:txBody>
      </p:sp>
      <p:sp>
        <p:nvSpPr>
          <p:cNvPr id="3" name="Content Placeholder 2">
            <a:extLst>
              <a:ext uri="{FF2B5EF4-FFF2-40B4-BE49-F238E27FC236}">
                <a16:creationId xmlns:a16="http://schemas.microsoft.com/office/drawing/2014/main" id="{62AB2347-A9F3-4A7D-B140-6E92B747FF28}"/>
              </a:ext>
            </a:extLst>
          </p:cNvPr>
          <p:cNvSpPr>
            <a:spLocks noGrp="1"/>
          </p:cNvSpPr>
          <p:nvPr>
            <p:ph idx="1"/>
          </p:nvPr>
        </p:nvSpPr>
        <p:spPr/>
        <p:txBody>
          <a:bodyPr>
            <a:normAutofit/>
          </a:bodyPr>
          <a:lstStyle/>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effectLst/>
                <a:latin typeface="Courier New" panose="02070309020205020404" pitchFamily="49" charset="0"/>
                <a:ea typeface="Times New Roman" panose="02020603050405020304" pitchFamily="18" charset="0"/>
                <a:cs typeface="Times New Roman" panose="02020603050405020304" pitchFamily="18" charset="0"/>
              </a:rPr>
              <a:t>1' OR '1'='1</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2400" dirty="0">
                <a:effectLst/>
                <a:latin typeface="Times New Roman" panose="02020603050405020304" pitchFamily="18" charset="0"/>
                <a:ea typeface="Times New Roman" panose="02020603050405020304" pitchFamily="18" charset="0"/>
              </a:rPr>
              <a:t>This condition is always true, forcing the database to return all records. Attackers commonly use this technique to bypass login mechanisms</a:t>
            </a:r>
            <a:endParaRPr lang="en-US" sz="2400" dirty="0"/>
          </a:p>
        </p:txBody>
      </p:sp>
    </p:spTree>
    <p:extLst>
      <p:ext uri="{BB962C8B-B14F-4D97-AF65-F5344CB8AC3E}">
        <p14:creationId xmlns:p14="http://schemas.microsoft.com/office/powerpoint/2010/main" val="61145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49C3D-4122-453C-9DE7-FC51ED911B0B}"/>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UNION SELECT Attack</a:t>
            </a:r>
            <a:endParaRPr lang="en-US" sz="4000" dirty="0"/>
          </a:p>
        </p:txBody>
      </p:sp>
      <p:sp>
        <p:nvSpPr>
          <p:cNvPr id="3" name="Content Placeholder 2">
            <a:extLst>
              <a:ext uri="{FF2B5EF4-FFF2-40B4-BE49-F238E27FC236}">
                <a16:creationId xmlns:a16="http://schemas.microsoft.com/office/drawing/2014/main" id="{383250B4-11B4-4143-B1FC-1FEC9EC32D5C}"/>
              </a:ext>
            </a:extLst>
          </p:cNvPr>
          <p:cNvSpPr>
            <a:spLocks noGrp="1"/>
          </p:cNvSpPr>
          <p:nvPr>
            <p:ph idx="1"/>
          </p:nvPr>
        </p:nvSpPr>
        <p:spPr/>
        <p:txBody>
          <a:bodyPr/>
          <a:lstStyle/>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effectLst/>
                <a:latin typeface="Arial" panose="020B0604020202020204" pitchFamily="34" charset="0"/>
                <a:ea typeface="Times New Roman" panose="02020603050405020304" pitchFamily="18" charset="0"/>
                <a:cs typeface="Arial" panose="020B0604020202020204" pitchFamily="34" charset="0"/>
              </a:rPr>
              <a:t>1' UNION SELECT 1, @@version#</a:t>
            </a:r>
            <a:endParaRPr lang="en-US" sz="24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UNION SELECT allows attackers to extract additional data from the database. The @@version variable reveals the database version, which helps attackers tailor further attacks.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02988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E51F4-C4BE-4FD7-A7BA-D87AD7DD390B}"/>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Data Extraction Attack</a:t>
            </a:r>
            <a:endParaRPr lang="en-US" sz="4000" dirty="0"/>
          </a:p>
        </p:txBody>
      </p:sp>
      <p:sp>
        <p:nvSpPr>
          <p:cNvPr id="3" name="Content Placeholder 2">
            <a:extLst>
              <a:ext uri="{FF2B5EF4-FFF2-40B4-BE49-F238E27FC236}">
                <a16:creationId xmlns:a16="http://schemas.microsoft.com/office/drawing/2014/main" id="{DAF10419-1A0B-4863-9651-46724E44CEE7}"/>
              </a:ext>
            </a:extLst>
          </p:cNvPr>
          <p:cNvSpPr>
            <a:spLocks noGrp="1"/>
          </p:cNvSpPr>
          <p:nvPr>
            <p:ph idx="1"/>
          </p:nvPr>
        </p:nvSpPr>
        <p:spPr/>
        <p:txBody>
          <a:bodyPr/>
          <a:lstStyle/>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effectLst/>
                <a:latin typeface="Arial" panose="020B0604020202020204" pitchFamily="34" charset="0"/>
                <a:ea typeface="Times New Roman" panose="02020603050405020304" pitchFamily="18" charset="0"/>
                <a:cs typeface="Arial" panose="020B0604020202020204" pitchFamily="34" charset="0"/>
              </a:rPr>
              <a:t>-1' UNION SELECT user, password FROM users#</a:t>
            </a:r>
            <a:endParaRPr lang="en-US" sz="24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This advanced SQL Injection payload extracts sensitive data such as usernames and passwords. It represents a real-world data breach scenario.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88916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5CE2-8238-49E1-843D-A84150C6CE91}"/>
              </a:ext>
            </a:extLst>
          </p:cNvPr>
          <p:cNvSpPr>
            <a:spLocks noGrp="1"/>
          </p:cNvSpPr>
          <p:nvPr>
            <p:ph type="title"/>
          </p:nvPr>
        </p:nvSpPr>
        <p:spPr/>
        <p:txBody>
          <a:bodyPr>
            <a:normAutofit/>
          </a:bodyPr>
          <a:lstStyle/>
          <a:p>
            <a:r>
              <a:rPr lang="en-US" b="1" dirty="0">
                <a:effectLst/>
                <a:latin typeface="Times New Roman" panose="02020603050405020304" pitchFamily="18" charset="0"/>
                <a:ea typeface="Times New Roman" panose="02020603050405020304" pitchFamily="18" charset="0"/>
              </a:rPr>
              <a:t>Suricata Logs</a:t>
            </a:r>
            <a:endParaRPr lang="en-US" dirty="0"/>
          </a:p>
        </p:txBody>
      </p:sp>
      <p:sp>
        <p:nvSpPr>
          <p:cNvPr id="3" name="Content Placeholder 2">
            <a:extLst>
              <a:ext uri="{FF2B5EF4-FFF2-40B4-BE49-F238E27FC236}">
                <a16:creationId xmlns:a16="http://schemas.microsoft.com/office/drawing/2014/main" id="{73B5AD63-704E-4701-9E35-B1AB07EDCA6C}"/>
              </a:ext>
            </a:extLst>
          </p:cNvPr>
          <p:cNvSpPr>
            <a:spLocks noGrp="1"/>
          </p:cNvSpPr>
          <p:nvPr>
            <p:ph idx="1"/>
          </p:nvPr>
        </p:nvSpPr>
        <p:spPr>
          <a:xfrm>
            <a:off x="1371600" y="1638300"/>
            <a:ext cx="9601200" cy="3581400"/>
          </a:xfrm>
        </p:spPr>
        <p:txBody>
          <a:bodyPr/>
          <a:lstStyle/>
          <a:p>
            <a:pPr marL="0" indent="0">
              <a:buNone/>
            </a:pPr>
            <a:r>
              <a:rPr lang="en-US" sz="1800" dirty="0" err="1">
                <a:effectLst/>
                <a:latin typeface="Arial" panose="020B0604020202020204" pitchFamily="34" charset="0"/>
                <a:ea typeface="Times New Roman" panose="02020603050405020304" pitchFamily="18" charset="0"/>
                <a:cs typeface="Arial" panose="020B0604020202020204" pitchFamily="34" charset="0"/>
              </a:rPr>
              <a:t>sudo</a:t>
            </a:r>
            <a:r>
              <a:rPr lang="en-US" sz="1800" dirty="0">
                <a:effectLst/>
                <a:latin typeface="Arial" panose="020B0604020202020204" pitchFamily="34" charset="0"/>
                <a:ea typeface="Times New Roman" panose="02020603050405020304" pitchFamily="18" charset="0"/>
                <a:cs typeface="Arial" panose="020B0604020202020204" pitchFamily="34" charset="0"/>
              </a:rPr>
              <a:t> tail -f /var/log/</a:t>
            </a:r>
            <a:r>
              <a:rPr lang="en-US" sz="1800" dirty="0" err="1">
                <a:effectLst/>
                <a:latin typeface="Arial" panose="020B0604020202020204" pitchFamily="34" charset="0"/>
                <a:ea typeface="Times New Roman" panose="02020603050405020304" pitchFamily="18" charset="0"/>
                <a:cs typeface="Arial" panose="020B0604020202020204" pitchFamily="34" charset="0"/>
              </a:rPr>
              <a:t>suricata</a:t>
            </a:r>
            <a:r>
              <a:rPr lang="en-US" sz="1800" dirty="0">
                <a:effectLst/>
                <a:latin typeface="Arial" panose="020B0604020202020204" pitchFamily="34" charset="0"/>
                <a:ea typeface="Times New Roman" panose="02020603050405020304" pitchFamily="18" charset="0"/>
                <a:cs typeface="Arial" panose="020B0604020202020204" pitchFamily="34" charset="0"/>
              </a:rPr>
              <a:t>/fast.log</a:t>
            </a:r>
            <a:endParaRPr lang="en-US" sz="18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US" dirty="0"/>
          </a:p>
        </p:txBody>
      </p:sp>
      <p:pic>
        <p:nvPicPr>
          <p:cNvPr id="7" name="Picture 6">
            <a:extLst>
              <a:ext uri="{FF2B5EF4-FFF2-40B4-BE49-F238E27FC236}">
                <a16:creationId xmlns:a16="http://schemas.microsoft.com/office/drawing/2014/main" id="{2DBA7F14-D4F5-4DFA-8B72-2C74E8D00785}"/>
              </a:ext>
            </a:extLst>
          </p:cNvPr>
          <p:cNvPicPr>
            <a:picLocks noChangeAspect="1"/>
          </p:cNvPicPr>
          <p:nvPr/>
        </p:nvPicPr>
        <p:blipFill>
          <a:blip r:embed="rId2"/>
          <a:stretch>
            <a:fillRect/>
          </a:stretch>
        </p:blipFill>
        <p:spPr>
          <a:xfrm>
            <a:off x="1371599" y="2334260"/>
            <a:ext cx="9337041" cy="3532507"/>
          </a:xfrm>
          <a:prstGeom prst="rect">
            <a:avLst/>
          </a:prstGeom>
        </p:spPr>
      </p:pic>
    </p:spTree>
    <p:extLst>
      <p:ext uri="{BB962C8B-B14F-4D97-AF65-F5344CB8AC3E}">
        <p14:creationId xmlns:p14="http://schemas.microsoft.com/office/powerpoint/2010/main" val="3453010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6D65CF-3F3B-48F1-9162-B874756C256F}"/>
              </a:ext>
            </a:extLst>
          </p:cNvPr>
          <p:cNvSpPr>
            <a:spLocks noGrp="1"/>
          </p:cNvSpPr>
          <p:nvPr>
            <p:ph type="title"/>
          </p:nvPr>
        </p:nvSpPr>
        <p:spPr>
          <a:xfrm>
            <a:off x="3566160" y="2086610"/>
            <a:ext cx="9601200" cy="1485900"/>
          </a:xfrm>
        </p:spPr>
        <p:txBody>
          <a:bodyPr>
            <a:noAutofit/>
          </a:bodyPr>
          <a:lstStyle/>
          <a:p>
            <a:r>
              <a:rPr lang="en-US" sz="8000" b="1" dirty="0">
                <a:latin typeface="Edwardian Script ITC" panose="030303020407070D0804" pitchFamily="66" charset="0"/>
              </a:rPr>
              <a:t>Thank </a:t>
            </a:r>
            <a:br>
              <a:rPr lang="en-US" sz="8000" b="1" dirty="0">
                <a:latin typeface="Edwardian Script ITC" panose="030303020407070D0804" pitchFamily="66" charset="0"/>
              </a:rPr>
            </a:br>
            <a:r>
              <a:rPr lang="en-US" sz="8000" b="1" dirty="0">
                <a:latin typeface="Edwardian Script ITC" panose="030303020407070D0804" pitchFamily="66" charset="0"/>
              </a:rPr>
              <a:t>          you</a:t>
            </a:r>
          </a:p>
        </p:txBody>
      </p:sp>
    </p:spTree>
    <p:extLst>
      <p:ext uri="{BB962C8B-B14F-4D97-AF65-F5344CB8AC3E}">
        <p14:creationId xmlns:p14="http://schemas.microsoft.com/office/powerpoint/2010/main" val="117135452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{47FFBBA3-2EB7-49EF-9E00-F30581B6C4ED}TFc3084226-2d0c-440f-9f46-6b48c7a7f670e6ba4a85-fc4a2881d6b3</Template>
  <TotalTime>97</TotalTime>
  <Words>615</Words>
  <Application>Microsoft Office PowerPoint</Application>
  <PresentationFormat>Widescreen</PresentationFormat>
  <Paragraphs>76</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Courier New</vt:lpstr>
      <vt:lpstr>Edwardian Script ITC</vt:lpstr>
      <vt:lpstr>Franklin Gothic Book</vt:lpstr>
      <vt:lpstr>Symbol</vt:lpstr>
      <vt:lpstr>Times New Roman</vt:lpstr>
      <vt:lpstr>Crop</vt:lpstr>
      <vt:lpstr>SQL Injection Detection Using Suricata IDS</vt:lpstr>
      <vt:lpstr>Introduction</vt:lpstr>
      <vt:lpstr>Problem Statement / Objective</vt:lpstr>
      <vt:lpstr>Tools &amp; Environment Setup</vt:lpstr>
      <vt:lpstr>Network Configuration</vt:lpstr>
      <vt:lpstr>Suricata Configuration File</vt:lpstr>
      <vt:lpstr>HOME_NET Configuration </vt:lpstr>
      <vt:lpstr>Local Rules Concept</vt:lpstr>
      <vt:lpstr>Testing Configuration</vt:lpstr>
      <vt:lpstr>SQL Injection Detection Rules</vt:lpstr>
      <vt:lpstr>Accessing DVWA</vt:lpstr>
      <vt:lpstr>SQL Injection – Error Based Test</vt:lpstr>
      <vt:lpstr>Authentication Bypass Attack</vt:lpstr>
      <vt:lpstr>UNION SELECT Attack</vt:lpstr>
      <vt:lpstr>Data Extraction Attack</vt:lpstr>
      <vt:lpstr>Suricata Logs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Injection Detection Using Suricata IDS</dc:title>
  <dc:creator>TALHA AHMAD</dc:creator>
  <cp:lastModifiedBy>TALHA AHMAD</cp:lastModifiedBy>
  <cp:revision>8</cp:revision>
  <dcterms:created xsi:type="dcterms:W3CDTF">2026-01-20T12:15:38Z</dcterms:created>
  <dcterms:modified xsi:type="dcterms:W3CDTF">2026-07-20T10:14:44Z</dcterms:modified>
</cp:coreProperties>
</file>